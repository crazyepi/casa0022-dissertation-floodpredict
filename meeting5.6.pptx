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90" y="4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C8F51-A29A-E547-62C9-EF34BC8A33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AE2A4A-3230-C3E4-1188-1FC5EA0C68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58D1EF7-C07F-416A-8BDE-E9EB81337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3056"/>
            <a:ext cx="12192000" cy="544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20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198F13-DE5E-7198-C98D-EAA441D97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217" y="252919"/>
            <a:ext cx="10982527" cy="6352162"/>
          </a:xfrm>
        </p:spPr>
        <p:txBody>
          <a:bodyPr/>
          <a:lstStyle/>
          <a:p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Rainfall–runoff modelling using Long Short-Term Memory (LSTM) networks 《Hydrology and Earth System Sciences 2018》</a:t>
            </a:r>
          </a:p>
          <a:p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dirty="0"/>
              <a:t>In: Rainfall + Temperature + Sun Radiation + Vapor Pressure</a:t>
            </a:r>
          </a:p>
          <a:p>
            <a:r>
              <a:rPr lang="en-US" altLang="zh-CN" dirty="0"/>
              <a:t>Out: River water flow level</a:t>
            </a:r>
          </a:p>
          <a:p>
            <a:endParaRPr lang="en-US" altLang="zh-CN" dirty="0"/>
          </a:p>
          <a:p>
            <a:r>
              <a:rPr lang="en-US" altLang="zh-CN" dirty="0"/>
              <a:t>Dataset similar</a:t>
            </a:r>
          </a:p>
          <a:p>
            <a:r>
              <a:rPr lang="en-US" altLang="zh-CN" dirty="0"/>
              <a:t>Proven LSTM can learn from a composite dataset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9862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B0CD4-1560-D763-6166-91CA36A10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AC7E66-FE66-811E-B4E4-A7B9E4324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34" y="252919"/>
            <a:ext cx="11537004" cy="6352162"/>
          </a:xfrm>
        </p:spPr>
        <p:txBody>
          <a:bodyPr/>
          <a:lstStyle/>
          <a:p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A TIME SERIES IS WORTH 64 WORDS: LONG-TERM FORECASTING WITH TRANSFORMERS 《ICLR 2023》</a:t>
            </a:r>
          </a:p>
          <a:p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dirty="0"/>
              <a:t>Tested with: Weather / Traffic / Electronic Usage / Influenza-Like Illness (ILI)</a:t>
            </a:r>
          </a:p>
          <a:p>
            <a:r>
              <a:rPr lang="en-US" altLang="zh-CN" dirty="0"/>
              <a:t> / Transformer Temperature (ETT) </a:t>
            </a:r>
          </a:p>
          <a:p>
            <a:endParaRPr lang="en-US" altLang="zh-CN" dirty="0"/>
          </a:p>
          <a:p>
            <a:r>
              <a:rPr lang="en-US" altLang="zh-CN" dirty="0"/>
              <a:t>Convert time series data to “patches”</a:t>
            </a:r>
          </a:p>
          <a:p>
            <a:r>
              <a:rPr lang="en-US" altLang="zh-CN" dirty="0"/>
              <a:t>Kept local information + Reduced complexity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6680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B1773-4809-014F-D35B-30CC9F9A2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173535-7FC3-F9BD-9136-228E4D6DE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34" y="252919"/>
            <a:ext cx="11537004" cy="6352162"/>
          </a:xfrm>
        </p:spPr>
        <p:txBody>
          <a:bodyPr/>
          <a:lstStyle/>
          <a:p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Informer: Beyond Efficient Transformer for Long Sequence Time-Series Forecasting 《AAAI2021》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dirty="0"/>
              <a:t>Tested with: Electronic Usage (ECL) / Transformer Temperature (ETT) / Weather</a:t>
            </a:r>
          </a:p>
          <a:p>
            <a:endParaRPr lang="en-US" altLang="zh-CN" dirty="0"/>
          </a:p>
          <a:p>
            <a:r>
              <a:rPr lang="en-US" altLang="zh-CN" dirty="0"/>
              <a:t>Informer Self Attention will calculate attention with only “active points”</a:t>
            </a:r>
          </a:p>
          <a:p>
            <a:r>
              <a:rPr lang="en-US" altLang="zh-CN" dirty="0"/>
              <a:t>Distill to find important long-time features</a:t>
            </a:r>
          </a:p>
          <a:p>
            <a:r>
              <a:rPr lang="en-US" altLang="zh-CN" dirty="0"/>
              <a:t>Output future information about a period at once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1546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FF0E8-0404-6EAA-1783-84222420D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A00CCF-7433-8D16-8274-EC624E9EF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34" y="252919"/>
            <a:ext cx="11537004" cy="6352162"/>
          </a:xfrm>
        </p:spPr>
        <p:txBody>
          <a:bodyPr/>
          <a:lstStyle/>
          <a:p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</a:rPr>
              <a:t>Autoformer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: Decomposition Transformers with Auto-Correlation for Long-Term Series Forecasting 《Neural IPS 2021》</a:t>
            </a:r>
          </a:p>
          <a:p>
            <a:endParaRPr lang="en-US" altLang="zh-CN" dirty="0"/>
          </a:p>
          <a:p>
            <a:r>
              <a:rPr lang="en-US" altLang="zh-CN" dirty="0"/>
              <a:t>Tested with: Electronic Usage (ECL) / Transformer Temperature (ETT) / Weather / Influenza-Like Illness (ILI) / Traffic / Exchange Rate</a:t>
            </a:r>
          </a:p>
          <a:p>
            <a:endParaRPr lang="en-US" altLang="zh-CN" dirty="0"/>
          </a:p>
          <a:p>
            <a:r>
              <a:rPr lang="en-US" altLang="zh-CN" dirty="0"/>
              <a:t>Best of All</a:t>
            </a:r>
          </a:p>
          <a:p>
            <a:r>
              <a:rPr lang="en-US" altLang="zh-CN" dirty="0"/>
              <a:t>Try to find long-time trend, and seasonal fluctuations</a:t>
            </a:r>
          </a:p>
          <a:p>
            <a:r>
              <a:rPr lang="en-US" altLang="zh-CN" dirty="0"/>
              <a:t>Use auto-correlation to find cycles in the dataset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533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AC5D2-1275-A0EC-1273-1C3024D4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Device Design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DBB320-E81D-C0E3-1B9B-0379C95FA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Home Device: Steampunk gas gauge with sound cue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Exhibition Device: A house mill miniature with functional water pump to mimic floods</a:t>
            </a:r>
            <a:endParaRPr lang="zh-CN" altLang="en-US" dirty="0"/>
          </a:p>
        </p:txBody>
      </p:sp>
      <p:pic>
        <p:nvPicPr>
          <p:cNvPr id="1026" name="Picture 2" descr="Gas Test Pressure Gauge 15 Pound, 15 PSI/100 kPa 3/4” FNPT Brass Bell Shape  Body">
            <a:extLst>
              <a:ext uri="{FF2B5EF4-FFF2-40B4-BE49-F238E27FC236}">
                <a16:creationId xmlns:a16="http://schemas.microsoft.com/office/drawing/2014/main" id="{FFD0859E-AA4C-BBBE-95C1-9ACEED4E8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0300" y="681037"/>
            <a:ext cx="3111500" cy="311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126,900+ 項模型屋圖片照片檔、圖片和免版稅影像- iStock">
            <a:extLst>
              <a:ext uri="{FF2B5EF4-FFF2-40B4-BE49-F238E27FC236}">
                <a16:creationId xmlns:a16="http://schemas.microsoft.com/office/drawing/2014/main" id="{2AFF0EE4-425A-F518-1B2B-E60DECA2F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5430" y="4452097"/>
            <a:ext cx="2548890" cy="204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413460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241</Words>
  <Application>Microsoft Office PowerPoint</Application>
  <PresentationFormat>宽屏</PresentationFormat>
  <Paragraphs>33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Device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胡昊宇</dc:creator>
  <cp:lastModifiedBy>Hu, Haoyu</cp:lastModifiedBy>
  <cp:revision>11</cp:revision>
  <dcterms:created xsi:type="dcterms:W3CDTF">2023-08-09T12:44:00Z</dcterms:created>
  <dcterms:modified xsi:type="dcterms:W3CDTF">2026-05-06T11:01:24Z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